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pPr indent="0" marL="0">
              <a:buNone/>
            </a:pPr>
            <a:r>
              <a:rPr lang="en-US" sz="6000" b="1" dirty="0">
                <a:solidFill>
                  <a:srgbClr val="34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2004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catches vehicle theft the moment it happens, on the cheap, dark cameras societies already own.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 ·   </a:t>
            </a:r>
            <a:pPr indent="0" marL="0">
              <a:buNone/>
            </a:pPr>
            <a:r>
              <a:rPr lang="en-US" sz="13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buNone/>
            </a:pPr>
            <a:r>
              <a:rPr lang="en-US" sz="13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/ phone]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billion cameras watch us. None of them protect us.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154680"/>
            <a:ext cx="457200" cy="457200"/>
          </a:xfrm>
          <a:prstGeom prst="ellipse">
            <a:avLst/>
          </a:prstGeom>
          <a:solidFill>
            <a:srgbClr val="1E273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926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record crime. They never stop 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1E273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4023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find out the next morning, from the footage.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5349240"/>
            <a:ext cx="457200" cy="457200"/>
          </a:xfrm>
          <a:prstGeom prst="ellipse">
            <a:avLst/>
          </a:prstGeom>
          <a:solidFill>
            <a:srgbClr val="1E273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5120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fails on dark, low-res, real CCTV, and noisy alerts get it switched off.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VisionGuard turns a society's existing cameras into a watchful AI.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432304"/>
            <a:ext cx="457200" cy="457200"/>
          </a:xfrm>
          <a:prstGeom prst="ellipse">
            <a:avLst/>
          </a:prstGeom>
          <a:solidFill>
            <a:srgbClr val="34D9E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3134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in the dark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670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low-light frames so it detects the person a raw feed hides.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73552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511296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3924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act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at a car + a break-in motion + the car leaving = a theft.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352544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590288"/>
            <a:ext cx="457200" cy="457200"/>
          </a:xfrm>
          <a:prstGeom prst="ellipse">
            <a:avLst/>
          </a:prstGeom>
          <a:solidFill>
            <a:srgbClr val="6EE7A8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4714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itself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8280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reviews the clip and writes a plain-English verdict with time and severity.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431536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669280"/>
            <a:ext cx="457200" cy="457200"/>
          </a:xfrm>
          <a:prstGeom prst="ellipse">
            <a:avLst/>
          </a:prstGeom>
          <a:solidFill>
            <a:srgbClr val="FFC46B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📲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550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instantly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45920" y="59070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guard are notified at the smash, not the next morning.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Local-first. Cheap detection on-site. Only flagged evidence goes to AI. Raw footage never leaves the building.</a:t>
            </a:r>
            <a:endParaRPr lang="en-US" sz="1500" dirty="0"/>
          </a:p>
        </p:txBody>
      </p:sp>
      <p:pic>
        <p:nvPicPr>
          <p:cNvPr id="4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965960"/>
            <a:ext cx="7680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on real, bad footage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and fixed on actual 452 x 342 night-CCTV theft footage, not a lab clip.</a:t>
            </a:r>
            <a:endParaRPr lang="en-US" sz="1500" dirty="0"/>
          </a:p>
        </p:txBody>
      </p:sp>
      <p:pic>
        <p:nvPicPr>
          <p:cNvPr id="4" name="Image 0" descr="pro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920240"/>
            <a:ext cx="8595360" cy="27637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729741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frame, raw vs enhanced: the intruder at the window goes from invisible to clearly visible.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22960" y="507492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5212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 → 142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51560" y="5788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brightness after enhancement (person becomes detectable)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5074920"/>
            <a:ext cx="5166360" cy="1188720"/>
          </a:xfrm>
          <a:prstGeom prst="roundRect">
            <a:avLst>
              <a:gd name="adj" fmla="val 6923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5212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– 160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0" y="5788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break-in signal during the act (vs ~15 when quiet)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operator sees</a:t>
            </a:r>
            <a:endParaRPr lang="en-US" sz="3200" dirty="0"/>
          </a:p>
        </p:txBody>
      </p:sp>
      <p:pic>
        <p:nvPicPr>
          <p:cNvPr id="3" name="Image 0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8961120" cy="3394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13172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verdict on top, the whole theft as ONE incident card. Click a card to jump the video to that moment.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 </a:t>
            </a:r>
            <a:pPr indent="0" marL="0">
              <a:buNone/>
            </a:pPr>
            <a:r>
              <a:rPr lang="en-US" sz="3200" b="1" dirty="0">
                <a:solidFill>
                  <a:srgbClr val="34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· SAM · SOM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4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$6.8B+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video-surveillance market in 2026, growing fast toward $20B+.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₹3,000 Cr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00600" y="3611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residential societies &amp; small business on existing cameras, per year.*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EE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4108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 Cr ARR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641080" y="3611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target: societies across [FILL: cities] at ~₹60k / society / yr.*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SAM/SOM illustrative, to be finalized with founder's bottom-up data. TAM: AI-in-video-surveillance market reports, 2026.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34D9E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19202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per society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23591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subscription per society, tiered by cameras and AI-review volume.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38728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33375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AI verdicts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91640" y="377647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review is paise per flagged clip, not a per-camera cloud fee. Transparent in-app cost meter.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956048"/>
            <a:ext cx="457200" cy="457200"/>
          </a:xfrm>
          <a:prstGeom prst="ellipse">
            <a:avLst/>
          </a:prstGeom>
          <a:solidFill>
            <a:srgbClr val="6EE7A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7548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to sell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91640" y="51937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cameras they already own. Zero upfront hardware barrier to adopt.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win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is crowded and well-funded (Verkada, Ambient.ai globally; Staqu, Wobot, Awiros in India). We own a sharp wedge: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697480"/>
            <a:ext cx="457200" cy="457200"/>
          </a:xfrm>
          <a:prstGeom prst="ellipse">
            <a:avLst/>
          </a:prstGeom>
          <a:solidFill>
            <a:srgbClr val="1E273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🏘️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37744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societies on existing cheap cameras, the underserved mid-market.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2377440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2697480"/>
            <a:ext cx="457200" cy="457200"/>
          </a:xfrm>
          <a:prstGeom prst="ellipse">
            <a:avLst/>
          </a:prstGeom>
          <a:solidFill>
            <a:srgbClr val="1E2730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🌫️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86600" y="237744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low-quality footage, proven on real dark, low-res night CCTV.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931920"/>
            <a:ext cx="457200" cy="457200"/>
          </a:xfrm>
          <a:prstGeom prst="ellipse">
            <a:avLst/>
          </a:prstGeom>
          <a:solidFill>
            <a:srgbClr val="1E2730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&amp; local-first: plain-English verdicts, footage stays on-site.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611880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3931920"/>
            <a:ext cx="457200" cy="457200"/>
          </a:xfrm>
          <a:prstGeom prst="ellipse">
            <a:avLst/>
          </a:prstGeom>
          <a:solidFill>
            <a:srgbClr val="1E2730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361188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Paise-per-incident cost, vs per-camera cloud subscriptions.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our performance on bad footage + the data flywheel from real deployments.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end-to-end prototype, validated on real footage. Honest about what's proven and what's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6EE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in the dark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Break-in / theft understanding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models + fusion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verdict + incident memory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Telegram alerts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201168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accuracy number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(needs a labeled, untouched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holdout)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21040" y="201168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27432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multi-camera pipeline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alerts, email / SMS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models on our own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surveillance datasets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</a:t>
            </a:r>
            <a:pPr indent="0" marL="0">
              <a:buNone/>
            </a:pPr>
            <a:r>
              <a:rPr lang="en-US" sz="18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₹ amount]</a:t>
            </a:r>
            <a:pPr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reach </a:t>
            </a:r>
            <a:pPr indent="0" marL="0">
              <a:buNone/>
            </a:pPr>
            <a:r>
              <a:rPr lang="en-US" sz="18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milestone]</a:t>
            </a:r>
            <a:pPr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78024"/>
            <a:ext cx="457200" cy="457200"/>
          </a:xfrm>
          <a:prstGeom prst="ellipse">
            <a:avLst/>
          </a:prstGeom>
          <a:solidFill>
            <a:srgbClr val="34D9E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GPU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0560" y="228600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label real footage; train and harden the models.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0" y="228600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438144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324612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multi-camera, mobile app, email/SMS, polished front-end.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98480" y="324612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398264"/>
            <a:ext cx="457200" cy="457200"/>
          </a:xfrm>
          <a:prstGeom prst="ellipse">
            <a:avLst/>
          </a:prstGeom>
          <a:solidFill>
            <a:srgbClr val="6EE7A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20624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+ GTM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80560" y="420624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Deployments, install &amp; guard training, first paying societies.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98480" y="420624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16636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141B22"/>
          </a:solidFill>
          <a:ln w="12700">
            <a:solidFill>
              <a:srgbClr val="2630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358384"/>
            <a:ext cx="457200" cy="457200"/>
          </a:xfrm>
          <a:prstGeom prst="ellipse">
            <a:avLst/>
          </a:prstGeom>
          <a:solidFill>
            <a:srgbClr val="FFC46B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516636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480560" y="516636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key hires the raise funds].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698480" y="516636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34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[FILL: ₹ amount]</a:t>
            </a:r>
            <a:pPr indent="0" marL="0">
              <a:buNone/>
            </a:pPr>
            <a:r>
              <a:rPr lang="en-US" sz="3400" b="1" dirty="0">
                <a:solidFill>
                  <a:srgbClr val="9AA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to  </a:t>
            </a:r>
            <a:pPr indent="0" marL="0">
              <a:buNone/>
            </a:pPr>
            <a:r>
              <a:rPr lang="en-US" sz="3400" b="1" dirty="0">
                <a:solidFill>
                  <a:srgbClr val="FFC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[FILL: milestone]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billion cameras watch us. We make them protect us.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buNone/>
            </a:pPr>
            <a:r>
              <a:rPr lang="en-US" sz="13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FFC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/ phone]</a:t>
            </a:r>
            <a:pPr indent="0" marL="0">
              <a:buNone/>
            </a:pPr>
            <a:r>
              <a:rPr lang="en-US" sz="13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working prototype available for a live walkthrough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2026-07-23T09:39:48Z</dcterms:created>
  <dcterms:modified xsi:type="dcterms:W3CDTF">2026-07-23T09:39:48Z</dcterms:modified>
</cp:coreProperties>
</file>